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312B"/>
                </a:solidFill>
              </a:defRPr>
            </a:pPr>
            <a:r>
              <a:t>FARMLAND ZONE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5F6E66"/>
                </a:solidFill>
              </a:defRPr>
            </a:pPr>
            <a:r>
              <a:t>Using K-Means and Hierarchical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27080" cy="4069080"/>
          </a:xfrm>
          <a:prstGeom prst="roundRect">
            <a:avLst/>
          </a:prstGeom>
          <a:solidFill>
            <a:srgbClr val="18312B"/>
          </a:solidFill>
          <a:ln>
            <a:solidFill>
              <a:srgbClr val="18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914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0">
                <a:solidFill>
                  <a:srgbClr val="FFFFFF"/>
                </a:solidFill>
              </a:defRPr>
            </a:pPr>
            <a:r>
              <a:t>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Machine Learning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14600"/>
            <a:ext cx="804672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</a:defRPr>
            </a:pPr>
            <a:r>
              <a:t>Automatically discover similar farmland zones</a:t>
            </a:r>
            <a:br/>
            <a:r>
              <a:t>from agricultural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977639"/>
            <a:ext cx="160020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977639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SOIL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3977639"/>
            <a:ext cx="160020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3977639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RAINFALL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81144" y="3977639"/>
            <a:ext cx="1874519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3977639"/>
            <a:ext cx="187451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IRRIGATION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0256" y="3977639"/>
            <a:ext cx="160020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0256" y="3977639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CROP YIELD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3977639"/>
            <a:ext cx="160020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3977639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LAND AREA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92040"/>
            <a:ext cx="9784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D7E6DA"/>
                </a:solidFill>
              </a:defRPr>
            </a:pPr>
            <a:r>
              <a:t>D Moksha Siva Sai  •  Musali Reddy Gari Adith Kumar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312B"/>
                </a:solidFill>
              </a:defRPr>
            </a:pPr>
            <a:r>
              <a:t>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5F6E66"/>
                </a:solidFill>
              </a:defRPr>
            </a:pPr>
            <a:r>
              <a:t>Why machine learning is useful for farmland zoning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356616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Manual classification is time-consuming, subjective and difficult to scale across large regions.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00200"/>
            <a:ext cx="3429000" cy="3566160"/>
          </a:xfrm>
          <a:prstGeom prst="roundRect">
            <a:avLst/>
          </a:prstGeom>
          <a:solidFill>
            <a:srgbClr val="18312B"/>
          </a:solidFill>
          <a:ln>
            <a:solidFill>
              <a:srgbClr val="18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87451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514600"/>
            <a:ext cx="297180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Automatically identify meaningful groups of similar farmland parcels.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3" y="1600200"/>
            <a:ext cx="3429000" cy="3566160"/>
          </a:xfrm>
          <a:prstGeom prst="roundRect">
            <a:avLst/>
          </a:prstGeom>
          <a:solidFill>
            <a:srgbClr val="CB9B37"/>
          </a:solidFill>
          <a:ln>
            <a:solidFill>
              <a:srgbClr val="CB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3" y="1874519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LEARNING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2514600"/>
            <a:ext cx="2971800" cy="2423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Unsupervised learning — the groups are discovered from the data rather than predefined.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312B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5F6E66"/>
                </a:solidFill>
              </a:defRPr>
            </a:pPr>
            <a:r>
              <a:t>Preparing agricultural data before clustering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1810512"/>
            <a:ext cx="50292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105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146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312B"/>
                </a:solidFill>
              </a:defRPr>
            </a:pPr>
            <a:r>
              <a:t>COLLECT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54680"/>
            <a:ext cx="2057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Farmland attributes: soil quality, irrigation availability, rainfall, crop yield and land area.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1" y="2834640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7A4A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60020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2" y="1810512"/>
            <a:ext cx="50292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18105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5146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312B"/>
                </a:solidFill>
              </a:defRPr>
            </a:pPr>
            <a:r>
              <a:t>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154680"/>
            <a:ext cx="2057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Explore the dataset to understand structure, patterns and missing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5312" y="2834640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7A4A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82512" y="1810512"/>
            <a:ext cx="50292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18105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146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312B"/>
                </a:solidFill>
              </a:defRPr>
            </a:pPr>
            <a:r>
              <a:t>PREPROCESS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54680"/>
            <a:ext cx="2057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Clean the data and handle missing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834640"/>
            <a:ext cx="320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347A4A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600200"/>
            <a:ext cx="24688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1432" y="1810512"/>
            <a:ext cx="502920" cy="50292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8105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2514600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312B"/>
                </a:solidFill>
              </a:defRPr>
            </a:pPr>
            <a:r>
              <a:t>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154680"/>
            <a:ext cx="2057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Bring features to comparable scales so distance calculations are fair.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321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5F6E66"/>
                </a:solidFill>
              </a:defRPr>
            </a:pPr>
            <a:r>
              <a:t>INPUT  →  PREPARED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312B"/>
                </a:solidFill>
              </a:defRPr>
            </a:pPr>
            <a:r>
              <a:t>CLUSTERING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5F6E66"/>
                </a:solidFill>
              </a:defRPr>
            </a:pPr>
            <a:r>
              <a:t>Finding similar farmland zones in two 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411480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K-MEANS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45720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Divides data into K groups using cluster centroids. Fast and scalable for large datasets.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57200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98348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43484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89204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526280"/>
            <a:ext cx="228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617720"/>
            <a:ext cx="1280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●  centroid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394960" cy="4114800"/>
          </a:xfrm>
          <a:prstGeom prst="roundRect">
            <a:avLst/>
          </a:prstGeom>
          <a:solidFill>
            <a:srgbClr val="18312B"/>
          </a:solidFill>
          <a:ln>
            <a:solidFill>
              <a:srgbClr val="18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47548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AGGLOMERATIVE HIERARCHICAL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51760"/>
            <a:ext cx="4572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Starts with individual points and progressively merges similar groups.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7763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┌───┐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3434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│   └──┐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47091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└──────┘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069080"/>
            <a:ext cx="2651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DCEBE1"/>
                </a:solidFill>
              </a:defRPr>
            </a:pPr>
            <a:r>
              <a:t>Dendrogram: A tree-like visualization showing how groups are related.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312B"/>
                </a:solidFill>
              </a:defRPr>
            </a:pPr>
            <a:r>
              <a:t>FROM CLUSTERS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5F6E66"/>
                </a:solidFill>
              </a:defRPr>
            </a:pPr>
            <a:r>
              <a:t>Selecting clusters, interpreting results and real-world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29000" cy="685800"/>
          </a:xfrm>
          <a:prstGeom prst="roundRect">
            <a:avLst/>
          </a:prstGeom>
          <a:solidFill>
            <a:srgbClr val="347A4A"/>
          </a:solidFill>
          <a:ln>
            <a:solidFill>
              <a:srgbClr val="34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00200"/>
            <a:ext cx="457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312B"/>
                </a:solidFill>
              </a:defRPr>
            </a:pPr>
            <a:r>
              <a:t>CHOOSE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8803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Elbow Method + Silhouette Score help identify a suitable number of K-Means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29000" cy="685800"/>
          </a:xfrm>
          <a:prstGeom prst="roundRect">
            <a:avLst/>
          </a:prstGeom>
          <a:solidFill>
            <a:srgbClr val="18312B"/>
          </a:solidFill>
          <a:ln>
            <a:solidFill>
              <a:srgbClr val="183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00200"/>
            <a:ext cx="457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5146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312B"/>
                </a:solidFill>
              </a:defRPr>
            </a:pPr>
            <a:r>
              <a:t>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00400"/>
            <a:ext cx="28803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Use cluster scatter plots and dendrograms to interpret and compare the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600200"/>
            <a:ext cx="34290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01583" y="1600200"/>
            <a:ext cx="3429000" cy="685800"/>
          </a:xfrm>
          <a:prstGeom prst="roundRect">
            <a:avLst/>
          </a:prstGeom>
          <a:solidFill>
            <a:srgbClr val="CB9B37"/>
          </a:solidFill>
          <a:ln>
            <a:solidFill>
              <a:srgbClr val="CB9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600200"/>
            <a:ext cx="457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51460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312B"/>
                </a:solidFill>
              </a:defRPr>
            </a:pPr>
            <a:r>
              <a:t>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200400"/>
            <a:ext cx="288036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28312E"/>
                </a:solidFill>
              </a:defRPr>
            </a:pPr>
            <a:r>
              <a:t>Support irrigation planning, fertilizer distribution, crop recommendations and infrastructure development.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789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5F6E66"/>
                </a:solidFill>
              </a:defRPr>
            </a:pPr>
            <a:r>
              <a:t>DATA  →  CLUSTERS  →  AGRICULTURAL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